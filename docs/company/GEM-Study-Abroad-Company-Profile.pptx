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3D7A"/>
          </a:solidFill>
          <a:ln/>
        </p:spPr>
      </p:sp>
      <p:pic>
        <p:nvPicPr>
          <p:cNvPr id="4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2194560" cy="722376"/>
          </a:xfrm>
          <a:prstGeom prst="rect">
            <a:avLst/>
          </a:prstGeom>
        </p:spPr>
      </p:pic>
      <p:pic>
        <p:nvPicPr>
          <p:cNvPr id="5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320040"/>
            <a:ext cx="237744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3200400"/>
            <a:ext cx="2377440" cy="5029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3"/>
          <p:cNvSpPr/>
          <p:nvPr/>
        </p:nvSpPr>
        <p:spPr>
          <a:xfrm>
            <a:off x="64465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Counselor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3657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Study Abroad Advisory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United Kingdom · Australia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2743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Global. Achieve Future.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3246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Vinodhini 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 Certified Advisory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Standard Presentation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23444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5270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13441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GEM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618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operating framework, vision &amp; strategic goals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28600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5786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395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267004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framework, destinations, packages &amp; delivery model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65760" y="333756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33756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6301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3447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72160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HR, CTO &amp; organizational structure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63440" y="123444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123444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15270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66360" y="13441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66360" y="1618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 workflow, counseling pipeline &amp; technology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63440" y="228600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228600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25786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66360" y="2395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66360" y="267004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quality framework &amp; ethics charter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663440" y="333756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333756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5" name="Text 32"/>
          <p:cNvSpPr/>
          <p:nvPr/>
        </p:nvSpPr>
        <p:spPr>
          <a:xfrm>
            <a:off x="4663440" y="36301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66360" y="3447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166360" y="372160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&amp; how to begin your journey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overview, operating framework &amp; strategic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07008"/>
            <a:ext cx="4879238" cy="3246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1536192"/>
            <a:ext cx="4542739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is a founder-led premium boutique advisory for USA, UK &amp; Australia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certified counseling (British Council, ex-IDP) with enterprise digital platform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journey: assessment → shortlist → application → visa → pre-departure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mass-market agent — quality-first, profile-based, ethically governed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Leadership: Founder &amp; Chief Counselor, HR, and CTO driving counseling + technology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04688" y="123444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2" name="Text 9"/>
          <p:cNvSpPr/>
          <p:nvPr/>
        </p:nvSpPr>
        <p:spPr>
          <a:xfrm>
            <a:off x="5504688" y="137160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550408" y="180136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Placed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48779" y="123444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7148779" y="137160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194499" y="180136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504688" y="228600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5504688" y="242316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50408" y="285292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148779" y="228600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1" name="Text 18"/>
          <p:cNvSpPr/>
          <p:nvPr/>
        </p:nvSpPr>
        <p:spPr>
          <a:xfrm>
            <a:off x="7148779" y="242316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94499" y="285292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504688" y="3337560"/>
            <a:ext cx="3196742" cy="10972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4" name="Text 21"/>
          <p:cNvSpPr/>
          <p:nvPr/>
        </p:nvSpPr>
        <p:spPr>
          <a:xfrm>
            <a:off x="5596128" y="34015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596128" y="3611880"/>
            <a:ext cx="301386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· Certified · Tech-Enabled · Ethical · USA/UK/Australia Specialist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Operating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22960" y="1207008"/>
            <a:ext cx="7498080" cy="53035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1252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OUTCOMES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14630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 · Visa success · Student satisfaction · Alumni referrals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22960" y="1847088"/>
            <a:ext cx="7498080" cy="530352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TECHNOLOGY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210312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Student portal · Counselor tools · CRM &amp; analytics (CTO-led)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" y="2487168"/>
            <a:ext cx="7498080" cy="53035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5328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COUNSELING 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60120" y="27432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 · Shortlisting · Applications · Visa · Packages (Counselor-led)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2960" y="3127248"/>
            <a:ext cx="7498080" cy="530352"/>
          </a:xfrm>
          <a:prstGeom prst="rect">
            <a:avLst/>
          </a:prstGeom>
          <a:solidFill>
            <a:srgbClr val="001A38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172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BRAND &amp; TRUST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0120" y="338328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 · British Council standards · Ethics charter · HR governance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9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flows upward: Trust → Operations → Technology → Student Outcomes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Mission &amp; 2026 Strategic Goal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1051560" cy="86868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508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417320" y="1234440"/>
            <a:ext cx="7360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1371600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trusted boutique study-abroad advisory — founder-quality guidance backed by technology.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286000"/>
            <a:ext cx="1051560" cy="8686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560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417320" y="2286000"/>
            <a:ext cx="7360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54480" y="2423160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students with certified counseling, transparent processes &amp; structured support for global education outcomes.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337560"/>
            <a:ext cx="1051560" cy="86868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6118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GOAL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417320" y="3337560"/>
            <a:ext cx="7360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474720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annual placements across USA, UK &amp; Australia with premium service quality &amp; zero ethical compromise.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destinations, packages &amp; delivery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1591056" cy="123444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Events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975104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048256" y="1417320"/>
            <a:ext cx="1591056" cy="12344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1"/>
          <p:cNvSpPr/>
          <p:nvPr/>
        </p:nvSpPr>
        <p:spPr>
          <a:xfrm>
            <a:off x="2048256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93976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093976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Sessions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course fit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657600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30752" y="1417320"/>
            <a:ext cx="1591056" cy="123444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9" name="Text 16"/>
          <p:cNvSpPr/>
          <p:nvPr/>
        </p:nvSpPr>
        <p:spPr>
          <a:xfrm>
            <a:off x="3730752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76472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76472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universities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intake plan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340096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413248" y="1417320"/>
            <a:ext cx="1591056" cy="12344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4" name="Text 21"/>
          <p:cNvSpPr/>
          <p:nvPr/>
        </p:nvSpPr>
        <p:spPr>
          <a:xfrm>
            <a:off x="5413248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58968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58968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SOP/LOR · Documents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tracking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022592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095744" y="1417320"/>
            <a:ext cx="1591056" cy="123444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9" name="Text 26"/>
          <p:cNvSpPr/>
          <p:nvPr/>
        </p:nvSpPr>
        <p:spPr>
          <a:xfrm>
            <a:off x="7095744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41464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Fly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41464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filing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briefing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 Lines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 Counseling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4231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4963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Admissions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44805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537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Assistance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5379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111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Documentation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657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89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Support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24231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4963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4805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537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&amp; LOR Support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5379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111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Loan Assistance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Destinations &amp; Market Positioning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712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234440"/>
            <a:ext cx="2712720" cy="50292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25880"/>
            <a:ext cx="252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United States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" y="18745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UG &amp; PG · STEM pathways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5488" y="237744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Scholarships &amp; assistantships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5488" y="288036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OPT &amp; career opportunities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338328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F-1 visa guidance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15640" y="1234440"/>
            <a:ext cx="2712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15640" y="1234440"/>
            <a:ext cx="2712720" cy="5029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7" name="Text 14"/>
          <p:cNvSpPr/>
          <p:nvPr/>
        </p:nvSpPr>
        <p:spPr>
          <a:xfrm>
            <a:off x="3307080" y="1325880"/>
            <a:ext cx="252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United Kingdom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25368" y="18745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Russell Group universities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25368" y="237744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1-year Masters programs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25368" y="288036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Graduate Route visa (2yr)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25368" y="338328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Post-study work options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65520" y="1234440"/>
            <a:ext cx="2712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5520" y="1234440"/>
            <a:ext cx="2712720" cy="50292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4" name="Text 21"/>
          <p:cNvSpPr/>
          <p:nvPr/>
        </p:nvSpPr>
        <p:spPr>
          <a:xfrm>
            <a:off x="6156960" y="1325880"/>
            <a:ext cx="252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🇦🇺  Australia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5248" y="18745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Group of Eight institutions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5248" y="237744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 pathway counseling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175248" y="288036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Post-study work rights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75248" y="338328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Regional study advantages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Student Packages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384048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Deliverables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Profile Check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Readiness assessment, country direction, academic fit overview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Lead qualification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GEM Pathfinder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3–5 university shortlist, budget plan, intake timeline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Early conversion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Application Pro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Full applications, SOP/LOR, document management &amp; tracking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Core revenue service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Visa &amp; Fly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Visa filing support, pre-departure checklist &amp; briefing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Post-offer stage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GEM Premium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Dedicated counselor, priority SLA, full journey management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High-value students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HR, CTO &amp; organizational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3337560" y="1353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Counselor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92024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0" y="2240280"/>
            <a:ext cx="3291840" cy="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224028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24028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24028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40280" y="2560320"/>
            <a:ext cx="1554480" cy="6858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2633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Leadership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Training · Compliance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94760" y="2560320"/>
            <a:ext cx="1554480" cy="685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0" y="2633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advisors · Applications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349240" y="2560320"/>
            <a:ext cx="1554480" cy="685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2633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CRM · Digital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0" y="324612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4231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231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4805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05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Dev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5379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251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quality assurance across all functions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712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9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71600"/>
            <a:ext cx="2438400" cy="1325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651760"/>
            <a:ext cx="2438400" cy="38404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6791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Counselor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02920" y="3154680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10+ years international education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502920" y="3502152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Ex-IDP · British Council Certified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502920" y="3849624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17 Pan-India · 700+ students placed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502920" y="4197096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counseling quality standards</a:t>
            </a:r>
            <a:endParaRPr lang="en-US" sz="680" dirty="0"/>
          </a:p>
        </p:txBody>
      </p:sp>
      <p:sp>
        <p:nvSpPr>
          <p:cNvPr id="16" name="Shape 12"/>
          <p:cNvSpPr/>
          <p:nvPr/>
        </p:nvSpPr>
        <p:spPr>
          <a:xfrm>
            <a:off x="3215640" y="1234440"/>
            <a:ext cx="2712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52800" y="1371600"/>
            <a:ext cx="2438400" cy="13258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8" name="Text 14"/>
          <p:cNvSpPr/>
          <p:nvPr/>
        </p:nvSpPr>
        <p:spPr>
          <a:xfrm>
            <a:off x="3352800" y="1737360"/>
            <a:ext cx="243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3352800" y="2651760"/>
            <a:ext cx="2438400" cy="38404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0" name="Text 16"/>
          <p:cNvSpPr/>
          <p:nvPr/>
        </p:nvSpPr>
        <p:spPr>
          <a:xfrm>
            <a:off x="3398520" y="26791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Leadership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Human Resources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352800" y="3154680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 acquisition &amp; counselor onboarding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3352800" y="3502152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Training, SOPs &amp; performance reviews</a:t>
            </a:r>
            <a:endParaRPr lang="en-US" sz="680" dirty="0"/>
          </a:p>
        </p:txBody>
      </p:sp>
      <p:sp>
        <p:nvSpPr>
          <p:cNvPr id="23" name="Text 19"/>
          <p:cNvSpPr/>
          <p:nvPr/>
        </p:nvSpPr>
        <p:spPr>
          <a:xfrm>
            <a:off x="3352800" y="3849624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Culture, compliance &amp; employee welfare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3352800" y="4197096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&amp; vendor HR coordination</a:t>
            </a:r>
            <a:endParaRPr lang="en-US" sz="680" dirty="0"/>
          </a:p>
        </p:txBody>
      </p:sp>
      <p:sp>
        <p:nvSpPr>
          <p:cNvPr id="25" name="Shape 21"/>
          <p:cNvSpPr/>
          <p:nvPr/>
        </p:nvSpPr>
        <p:spPr>
          <a:xfrm>
            <a:off x="6065520" y="1234440"/>
            <a:ext cx="2712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02680" y="1371600"/>
            <a:ext cx="2438400" cy="13258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7" name="Text 23"/>
          <p:cNvSpPr/>
          <p:nvPr/>
        </p:nvSpPr>
        <p:spPr>
          <a:xfrm>
            <a:off x="6202680" y="1737360"/>
            <a:ext cx="243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2800" dirty="0"/>
          </a:p>
        </p:txBody>
      </p:sp>
      <p:sp>
        <p:nvSpPr>
          <p:cNvPr id="28" name="Shape 24"/>
          <p:cNvSpPr/>
          <p:nvPr/>
        </p:nvSpPr>
        <p:spPr>
          <a:xfrm>
            <a:off x="6202680" y="2651760"/>
            <a:ext cx="2438400" cy="38404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9" name="Text 25"/>
          <p:cNvSpPr/>
          <p:nvPr/>
        </p:nvSpPr>
        <p:spPr>
          <a:xfrm>
            <a:off x="6248400" y="26791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Leadership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 (CTO)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202680" y="3154680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architecture &amp; student portal</a:t>
            </a:r>
            <a:endParaRPr lang="en-US" sz="680" dirty="0"/>
          </a:p>
        </p:txBody>
      </p:sp>
      <p:sp>
        <p:nvSpPr>
          <p:cNvPr id="31" name="Text 27"/>
          <p:cNvSpPr/>
          <p:nvPr/>
        </p:nvSpPr>
        <p:spPr>
          <a:xfrm>
            <a:off x="6202680" y="3502152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CRM, data security &amp; integrations</a:t>
            </a: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6202680" y="3849624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roadmap &amp; digital experience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6202680" y="4197096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Analytics, automation &amp; AI readiness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Spotlight — Vinodhini Y.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pic>
        <p:nvPicPr>
          <p:cNvPr id="8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234440"/>
            <a:ext cx="228600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187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 Certified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2834640" y="123444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2" name="Text 8"/>
          <p:cNvSpPr/>
          <p:nvPr/>
        </p:nvSpPr>
        <p:spPr>
          <a:xfrm>
            <a:off x="2834640" y="13075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834640" y="161848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069080" y="123444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13075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069080" y="161848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2834640" y="201168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4"/>
          <p:cNvSpPr/>
          <p:nvPr/>
        </p:nvSpPr>
        <p:spPr>
          <a:xfrm>
            <a:off x="2834640" y="20848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17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834640" y="23957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069080" y="201168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1" name="Text 17"/>
          <p:cNvSpPr/>
          <p:nvPr/>
        </p:nvSpPr>
        <p:spPr>
          <a:xfrm>
            <a:off x="4069080" y="20848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069080" y="23957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2834640" y="260604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founded GEM Study Abroad to deliver the personal, expert guidance every ambitious student deserves.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IDP Counselor with around 700+ successful placements across USA, UK, Australia &amp; beyond.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Top 17 advisor · Best Counselor — Silver Category · British Council Certified.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oversees counseling standards, complex cases, and quality assurance across GEM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workflow, counseling pipeline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 Workflow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420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8420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Assessment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114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Profile Check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academics · timeline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7023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2517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15" name="Text 12"/>
          <p:cNvSpPr/>
          <p:nvPr/>
        </p:nvSpPr>
        <p:spPr>
          <a:xfrm>
            <a:off x="22517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7754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11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8211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session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recommendation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1120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6614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1" name="Text 18"/>
          <p:cNvSpPr/>
          <p:nvPr/>
        </p:nvSpPr>
        <p:spPr>
          <a:xfrm>
            <a:off x="36614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851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308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308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universities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intake plan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5217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0711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7" name="Text 24"/>
          <p:cNvSpPr/>
          <p:nvPr/>
        </p:nvSpPr>
        <p:spPr>
          <a:xfrm>
            <a:off x="50711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948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405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05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SOP/LOR · docs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tracking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9314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4808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33" name="Text 30"/>
          <p:cNvSpPr/>
          <p:nvPr/>
        </p:nvSpPr>
        <p:spPr>
          <a:xfrm>
            <a:off x="64808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045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502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Visa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502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comparison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checklist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73411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8905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39" name="Text 36"/>
          <p:cNvSpPr/>
          <p:nvPr/>
        </p:nvSpPr>
        <p:spPr>
          <a:xfrm>
            <a:off x="78905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4142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599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599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connect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65760" y="3246120"/>
            <a:ext cx="8412480" cy="11430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4290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Visibility at Every Stage: Applications · Documents · Appointments · Notifications · Milestone Tracking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Operations Pipeline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3533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57400" y="1261872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1" name="Text 8"/>
          <p:cNvSpPr/>
          <p:nvPr/>
        </p:nvSpPr>
        <p:spPr>
          <a:xfrm>
            <a:off x="2130552" y="1353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15 min response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31920" y="1261872"/>
            <a:ext cx="48463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0" y="1353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Partner / Ops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1560" y="166420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1792224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18836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057400" y="1792224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8" name="Text 15"/>
          <p:cNvSpPr/>
          <p:nvPr/>
        </p:nvSpPr>
        <p:spPr>
          <a:xfrm>
            <a:off x="2130552" y="18836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Same day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31920" y="1792224"/>
            <a:ext cx="4846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1883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51560" y="219456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65760" y="2322576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3" name="Text 20"/>
          <p:cNvSpPr/>
          <p:nvPr/>
        </p:nvSpPr>
        <p:spPr>
          <a:xfrm>
            <a:off x="438912" y="24140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Done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7400" y="2322576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5" name="Text 22"/>
          <p:cNvSpPr/>
          <p:nvPr/>
        </p:nvSpPr>
        <p:spPr>
          <a:xfrm>
            <a:off x="2130552" y="24140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24 hours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931920" y="2322576"/>
            <a:ext cx="48463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23360" y="2414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51560" y="272491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5760" y="2852928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438912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057400" y="2852928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2" name="Text 29"/>
          <p:cNvSpPr/>
          <p:nvPr/>
        </p:nvSpPr>
        <p:spPr>
          <a:xfrm>
            <a:off x="2130552" y="29443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48 hours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931920" y="2852928"/>
            <a:ext cx="4846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23360" y="2944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51560" y="325526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65760" y="3383280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7" name="Text 34"/>
          <p:cNvSpPr/>
          <p:nvPr/>
        </p:nvSpPr>
        <p:spPr>
          <a:xfrm>
            <a:off x="438912" y="34747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(Paid)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057400" y="3383280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9" name="Text 36"/>
          <p:cNvSpPr/>
          <p:nvPr/>
        </p:nvSpPr>
        <p:spPr>
          <a:xfrm>
            <a:off x="2130552" y="3474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Same day onboarding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931920" y="3383280"/>
            <a:ext cx="48463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233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Admin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51560" y="378561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365760" y="3913632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44" name="Text 41"/>
          <p:cNvSpPr/>
          <p:nvPr/>
        </p:nvSpPr>
        <p:spPr>
          <a:xfrm>
            <a:off x="438912" y="40050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057400" y="3913632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6" name="Text 43"/>
          <p:cNvSpPr/>
          <p:nvPr/>
        </p:nvSpPr>
        <p:spPr>
          <a:xfrm>
            <a:off x="2130552" y="4005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Commission logged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931920" y="3913632"/>
            <a:ext cx="4846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2336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 + Ops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Technology Architecture (CTO-Led)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011680" cy="6858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435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23160" y="1234440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139903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· Profile Check · Book Counseling · Course Compare · Shortlist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34440" y="189280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039112"/>
            <a:ext cx="2011680" cy="685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Layer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23160" y="2039112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220370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· Counselor Portal · Admin Dashboard · Document Upload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234440" y="269748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2843784"/>
            <a:ext cx="2011680" cy="6858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44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 Layer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423160" y="2843784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0" y="30083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Auth · PostgreSQL · Role-based access · File storage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234440" y="35021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648456"/>
            <a:ext cx="2011680" cy="685800"/>
          </a:xfrm>
          <a:prstGeom prst="rect">
            <a:avLst/>
          </a:prstGeom>
          <a:solidFill>
            <a:srgbClr val="001A38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Layer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423160" y="3648456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0" y="38130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 · WhatsApp integration · Payments · Partner portal · Analytics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quality framework &amp; ethics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&amp; Families Choose GEM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23444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Trust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yrs · ex-IDP · British Council certified · 700+ placed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17720" y="123444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23444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Focus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UK &amp; Australia only — deep expertise per destination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286000"/>
            <a:ext cx="73152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Tech-Enabled Journey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with real-time tracking — not a brochure site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17720" y="22860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17720" y="2286000"/>
            <a:ext cx="73152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visibility · honest outcomes · documented fees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333756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33756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3447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Standards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3721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promises · verified university data · QA framework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17720" y="333756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333756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0" name="Text 27"/>
          <p:cNvSpPr/>
          <p:nvPr/>
        </p:nvSpPr>
        <p:spPr>
          <a:xfrm>
            <a:off x="4800600" y="3447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Support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3721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through pre-departure — one trusted partner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Ethics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727960" cy="36576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98448"/>
            <a:ext cx="254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QA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1664208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55648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British Council–aligned methodology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" y="2322576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14016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Founder review on complex cases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65760" y="2980944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072384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Weekly student status updates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5760" y="3639312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730752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authenticity checks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08020" y="1234440"/>
            <a:ext cx="2727960" cy="36576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9" name="Text 16"/>
          <p:cNvSpPr/>
          <p:nvPr/>
        </p:nvSpPr>
        <p:spPr>
          <a:xfrm>
            <a:off x="3299460" y="1298448"/>
            <a:ext cx="254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Charter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8020" y="1664208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9460" y="1755648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guaranteed admission/visa claims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8020" y="2322576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9460" y="2414016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fees before payment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08020" y="2980944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9460" y="3072384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Written scope per package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8020" y="3639312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9460" y="3730752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tolerance for fraud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050280" y="1234440"/>
            <a:ext cx="2727960" cy="36576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9" name="Text 26"/>
          <p:cNvSpPr/>
          <p:nvPr/>
        </p:nvSpPr>
        <p:spPr>
          <a:xfrm>
            <a:off x="6141720" y="1298448"/>
            <a:ext cx="254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Governance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50280" y="1664208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1720" y="1755648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Counselor onboarding &amp; training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050280" y="2322576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1720" y="2414016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 compliance monitoring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050280" y="2980944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41720" y="3072384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 &amp; SLA reviews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50280" y="3639312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41720" y="3730752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Partner quality standards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GEM Study Abroad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3785616" cy="3200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69164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— Founder &amp; Chief Counselor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0312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support@gemstudyabroad.com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251460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292608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www.gemstudyabroad.com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333756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USA · United Kingdom · Australia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19626" y="1234440"/>
            <a:ext cx="4458614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56786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Journey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02506" y="1737360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18" name="Text 15"/>
          <p:cNvSpPr/>
          <p:nvPr/>
        </p:nvSpPr>
        <p:spPr>
          <a:xfrm>
            <a:off x="4502506" y="17830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9978" y="176479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gemstudyabroad.com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02506" y="2267712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1" name="Text 18"/>
          <p:cNvSpPr/>
          <p:nvPr/>
        </p:nvSpPr>
        <p:spPr>
          <a:xfrm>
            <a:off x="4502506" y="23134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9978" y="229514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GEM Profile Check (free)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02506" y="2798064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4" name="Text 21"/>
          <p:cNvSpPr/>
          <p:nvPr/>
        </p:nvSpPr>
        <p:spPr>
          <a:xfrm>
            <a:off x="4502506" y="28437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49978" y="282549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free counseling session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02506" y="3328416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7" name="Text 24"/>
          <p:cNvSpPr/>
          <p:nvPr/>
        </p:nvSpPr>
        <p:spPr>
          <a:xfrm>
            <a:off x="4502506" y="33741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49978" y="335584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courses &amp; scholarships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02506" y="3858768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30" name="Text 27"/>
          <p:cNvSpPr/>
          <p:nvPr/>
        </p:nvSpPr>
        <p:spPr>
          <a:xfrm>
            <a:off x="4502506" y="39044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49978" y="388620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journey in student portal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365760"/>
            <a:ext cx="2377440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Global. Achieve Future.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920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partner for USA · UK · Australia</a:t>
            </a:r>
            <a:endParaRPr lang="en-US" sz="1200" dirty="0"/>
          </a:p>
        </p:txBody>
      </p:sp>
      <p:pic>
        <p:nvPicPr>
          <p:cNvPr id="6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23360" y="2331720"/>
            <a:ext cx="109728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· support@gemstudyabroad.com · +91 98765 43210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Study Abroad — Company Profile</dc:title>
  <dc:subject>PptxGenJS Presentation</dc:subject>
  <dc:creator>GEM Study Abroad</dc:creator>
  <cp:lastModifiedBy>GEM Study Abroad</cp:lastModifiedBy>
  <cp:revision>1</cp:revision>
  <dcterms:created xsi:type="dcterms:W3CDTF">2026-07-13T14:01:47Z</dcterms:created>
  <dcterms:modified xsi:type="dcterms:W3CDTF">2026-07-13T14:01:47Z</dcterms:modified>
</cp:coreProperties>
</file>