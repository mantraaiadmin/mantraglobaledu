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2377440" cy="795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5087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Program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11480" y="2148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Collaboration for USA · UK · Australia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148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Journey. Our Guidance. Global Success.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3200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 Vinodhini Y.</a:t>
            </a:r>
            <a:endParaRPr lang="en-US" sz="950" dirty="0"/>
          </a:p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USA · United Kingdom · Australia</a:t>
            </a:r>
            <a:endParaRPr lang="en-US" sz="950" dirty="0"/>
          </a:p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partnership discussions only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98080" y="4206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53896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48132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Foundation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1673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12-month goals &amp; success criteria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1480" y="2203704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223113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" y="2167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credibility, market opportunity &amp; value proposition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11480" y="2953512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298094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7240" y="2916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3172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pathways &amp; ideal partner profile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3703320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373075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7240" y="36667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Expectations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39227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Mantra delivers · What Mantra expects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9160" y="1453896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5" name="Text 22"/>
          <p:cNvSpPr/>
          <p:nvPr/>
        </p:nvSpPr>
        <p:spPr>
          <a:xfrm>
            <a:off x="4709160" y="148132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74920" y="1417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Framework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74920" y="1673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journey, pipeline SLAs &amp; packages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09160" y="2203704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9" name="Text 26"/>
          <p:cNvSpPr/>
          <p:nvPr/>
        </p:nvSpPr>
        <p:spPr>
          <a:xfrm>
            <a:off x="4709160" y="223113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74920" y="2167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Framework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7492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models, compliance &amp; governance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709160" y="2953512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33" name="Text 30"/>
          <p:cNvSpPr/>
          <p:nvPr/>
        </p:nvSpPr>
        <p:spPr>
          <a:xfrm>
            <a:off x="4709160" y="298094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074920" y="2916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Reporting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74920" y="3172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KPIs &amp; 90-day onboarding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709160" y="3703320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37" name="Text 34"/>
          <p:cNvSpPr/>
          <p:nvPr/>
        </p:nvSpPr>
        <p:spPr>
          <a:xfrm>
            <a:off x="4709160" y="373075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74920" y="36667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74920" y="39227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partnership activation process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Foundation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goals &amp; success criteria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Objective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353312"/>
            <a:ext cx="832104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" y="1389888"/>
            <a:ext cx="8101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trusted, scalable partner network that delivers premium study-abroad outcomes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1965960"/>
            <a:ext cx="26822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965960"/>
            <a:ext cx="268224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103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2920" y="2423160"/>
            <a:ext cx="249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Quality Reach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2788920"/>
            <a:ext cx="249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ethical consultancies to serve more USA, UK &amp; Australia aspirants without compromising standards.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30880" y="1965960"/>
            <a:ext cx="26822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30880" y="1965960"/>
            <a:ext cx="2682240" cy="54864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7" name="Text 14"/>
          <p:cNvSpPr/>
          <p:nvPr/>
        </p:nvSpPr>
        <p:spPr>
          <a:xfrm>
            <a:off x="3322320" y="2103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322320" y="2423160"/>
            <a:ext cx="249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the Journey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322320" y="2788920"/>
            <a:ext cx="249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repeatable lead-to-enrollment framework with SLAs, documentation, and platform visibility.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50280" y="1965960"/>
            <a:ext cx="26822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0280" y="1965960"/>
            <a:ext cx="268224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2" name="Text 19"/>
          <p:cNvSpPr/>
          <p:nvPr/>
        </p:nvSpPr>
        <p:spPr>
          <a:xfrm>
            <a:off x="6141720" y="2103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141720" y="2423160"/>
            <a:ext cx="249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Mutual Revenue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141720" y="2788920"/>
            <a:ext cx="249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win-win commercial models where partners earn through ethical placements and structured delivery.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Partnership Goals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40462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5270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8640" y="205740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partner consultancies onboarded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86300" y="1417320"/>
            <a:ext cx="40462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3460" y="15270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823460" y="205740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 processed through Mantra framework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834640"/>
            <a:ext cx="40462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9443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48640" y="347472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counseling engagements closed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86300" y="2834640"/>
            <a:ext cx="40462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3460" y="29443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823460" y="347472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enrollments (USA / UK / Australia)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11480" y="448056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adjusted per partner tier during onboarding. Reviewed quarterly.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8321040" cy="34747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Mantra partnership = trusted brand + disciplined operations + measurable enrollments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1856232"/>
            <a:ext cx="813816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transparent, milestone-based counseling with visible progress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earn predictable revenue through documented referral &amp; co-delivery models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maintains founder-led quality assurance and British Council–aligned standards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operate from a single pipeline view: lead → counseling → paid → enrolled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 for false promises, document fraud, or undisclosed fees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Credibility, focus &amp; differentiation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pic>
        <p:nvPicPr>
          <p:cNvPr id="4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at a Glance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11480" y="1417320"/>
            <a:ext cx="1977390" cy="1143000"/>
          </a:xfrm>
          <a:prstGeom prst="rect">
            <a:avLst/>
          </a:prstGeom>
          <a:solidFill>
            <a:srgbClr val="003D7A"/>
          </a:solidFill>
          <a:ln w="9525">
            <a:solidFill>
              <a:srgbClr val="C8911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508760"/>
            <a:ext cx="1977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Placed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26030" y="1417320"/>
            <a:ext cx="1977390" cy="1143000"/>
          </a:xfrm>
          <a:prstGeom prst="rect">
            <a:avLst/>
          </a:prstGeom>
          <a:solidFill>
            <a:srgbClr val="003D7A"/>
          </a:solidFill>
          <a:ln w="9525">
            <a:solidFill>
              <a:srgbClr val="C891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26030" y="1508760"/>
            <a:ext cx="1977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571750" y="205740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40580" y="1417320"/>
            <a:ext cx="1977390" cy="1143000"/>
          </a:xfrm>
          <a:prstGeom prst="rect">
            <a:avLst/>
          </a:prstGeom>
          <a:solidFill>
            <a:srgbClr val="003D7A"/>
          </a:solidFill>
          <a:ln w="9525">
            <a:solidFill>
              <a:srgbClr val="C891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0580" y="1508760"/>
            <a:ext cx="1977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686300" y="205740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Countries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755130" y="1417320"/>
            <a:ext cx="1977390" cy="1143000"/>
          </a:xfrm>
          <a:prstGeom prst="rect">
            <a:avLst/>
          </a:prstGeom>
          <a:solidFill>
            <a:srgbClr val="003D7A"/>
          </a:solidFill>
          <a:ln w="9525">
            <a:solidFill>
              <a:srgbClr val="C891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55130" y="1508760"/>
            <a:ext cx="1977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17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00850" y="205740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Rank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02920" y="28346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boutique advisory — USA, United Kingdom, Australia</a:t>
            </a:r>
            <a:endParaRPr lang="en-US" sz="1050" dirty="0"/>
          </a:p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| British Council Certified | Former IDP Counselor</a:t>
            </a:r>
            <a:endParaRPr lang="en-US" sz="1050" dirty="0"/>
          </a:p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digital platform: discovery, counseling, student &amp; counselor portals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Credibility — Vinodhini Y.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education counseling across admissions, visas &amp; university pathways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260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603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4" name="Text 11"/>
          <p:cNvSpPr/>
          <p:nvPr/>
        </p:nvSpPr>
        <p:spPr>
          <a:xfrm>
            <a:off x="26174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Ex-IDP Counselor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174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700+ students placed with proven global placement expertise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405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058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8" name="Text 15"/>
          <p:cNvSpPr/>
          <p:nvPr/>
        </p:nvSpPr>
        <p:spPr>
          <a:xfrm>
            <a:off x="47320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17 India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320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among India's leading study-abroad advisors nationally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7551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5513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2" name="Text 19"/>
          <p:cNvSpPr/>
          <p:nvPr/>
        </p:nvSpPr>
        <p:spPr>
          <a:xfrm>
            <a:off x="68465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Council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465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counselor — credentials trusted by universities &amp; families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4046220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17320"/>
            <a:ext cx="4046220" cy="34747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386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Demand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" y="1874520"/>
            <a:ext cx="382676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USA, UK &amp; Australia remain top destinations for Indian students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demand certified counselors + digital journey tracking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 intake cycles require disciplined pipeline management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evaluate ROI, visa reality &amp; career outcomes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86300" y="1417320"/>
            <a:ext cx="4046220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86300" y="1417320"/>
            <a:ext cx="4046220" cy="34747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4" name="Text 11"/>
          <p:cNvSpPr/>
          <p:nvPr/>
        </p:nvSpPr>
        <p:spPr>
          <a:xfrm>
            <a:off x="4777740" y="1463040"/>
            <a:ext cx="386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Gap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96028" y="1874520"/>
            <a:ext cx="382676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consultancies have reach but lack scalable process &amp; tech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SLAs erode trust and reduce conversion rates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CRM = leads lost after initial contact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need brand credibility to compete with aggregators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Partner with Mantra?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Trust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credibility, certifications &amp; ethical positioning families respect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260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603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4" name="Text 11"/>
          <p:cNvSpPr/>
          <p:nvPr/>
        </p:nvSpPr>
        <p:spPr>
          <a:xfrm>
            <a:off x="26174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Process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174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lead-to-enrollment workflow with SLAs at every stage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405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058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8" name="Text 15"/>
          <p:cNvSpPr/>
          <p:nvPr/>
        </p:nvSpPr>
        <p:spPr>
          <a:xfrm>
            <a:off x="47320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320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portal, counselor tools &amp; CRM roadmap — not a static website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7551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5513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2" name="Text 19"/>
          <p:cNvSpPr/>
          <p:nvPr/>
        </p:nvSpPr>
        <p:spPr>
          <a:xfrm>
            <a:off x="68465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Clarity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465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packages, revenue-share models &amp; transparent MOU terms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structure that fits your business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Partnership Pathways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89888"/>
          <a:ext cx="83210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508760"/>
                <a:gridCol w="29260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Basis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with lead flow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 qualified leads → Mantra counsels &amp; delivers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on enrollment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Co-Delivery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Counseling firms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counseling; Mantra handles apps &amp; platform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fee revenue share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/ state leaders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Semi-exclusive territory + co-branding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Retainer + performance bonus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Schools &amp; colleges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Workshops, career talks, pipeline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Per-enrollment + annual fee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Partner Profile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8321040" cy="34747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partner with quality-first consultancies — not volume-at-any-cost operators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1856232"/>
            <a:ext cx="813816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study-abroad practice with verifiable placement history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Counselors familiar with USA / UK / Australia admission pathways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to respond to leads within 15 minutes during business hours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adopt Mantra stage definitions, SLAs &amp; documentation standards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to transparent fees — no hidden charges to students or families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Expectations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party commits to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Mantra Delivers to Partners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Credibility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6367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Mantra brand association &amp; founder-backed QA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57200" y="18379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Co-branded marketing assets &amp; webinars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57200" y="20391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British Council–aligned counseling methodology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11480" y="2331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25511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 CRM pipeline with stage tracking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7200" y="27523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assignment, SLA monitoring &amp; escalation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57200" y="29535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/ email nurture templates &amp; scripts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11480" y="32461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Operations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34655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Packages: Profile Check → Pathfinder → Application Pro → Visa &amp; Fly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57200" y="36667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University shortlisting for USA, UK, Australia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57200" y="38679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SOP/LOR guidance, checklists &amp; deadline tracking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663440" y="14173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Platform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09160" y="16367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portal: apps, documents, appointments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09160" y="18379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Counselor portal: tasks, notes, calendar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709160" y="20391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dashboard: metrics &amp; partner reporting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663440" y="2331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Support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09160" y="25511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Documented MOU with revenue-share schedule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709160" y="27523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Commission tracking per enrollment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09160" y="29535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Quarterly business review with KPI dashboard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Mantra Expects from Partners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Practice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6367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guaranteed admission or visa promises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57200" y="18379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tolerance for fraudulent documents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57200" y="20391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 fee disclosure before payment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11480" y="2331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Discipline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25511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15-minute first response SLA on leads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7200" y="27523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CRM stage updates within 24 hours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57200" y="29535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student profile before applications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11480" y="32461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Standards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34655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Sessions follow Mantra methodology &amp; notes format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57200" y="36667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student updates during application phase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57200" y="38679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Escalation of complex cases to senior counselor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663440" y="14173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Compliance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09160" y="16367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Approved Mantra branding in all marketing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09160" y="18379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claims contradicting Mantra policies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709160" y="20391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training &amp; monthly pipeline reviews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663440" y="2331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Transparency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09160" y="25511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lead, conversion &amp; enrollment reports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709160" y="27523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Honest loss-reason coding for non-converts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09160" y="29535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data sharing for joint KPI review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by Partnership Phase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89888"/>
          <a:ext cx="8321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3108960"/>
                <a:gridCol w="3108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Mantra Provides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Provides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1–2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deck, MOU draft, commercial schedule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profile, team CVs, placement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3–4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access, training, scripts, brand kit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attendance, SLA sign-off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2–3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routing, counseling support, platform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sessions, pipeline updates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4–12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Co-marketing, KPI reviews, expansion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reports, quality adherence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Framework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journey, pipeline &amp; packages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Student Journey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Assessment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213055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Profile Check → qualify budget, academics, timeline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21736" y="141732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3176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3313176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13176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Session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13176" y="213055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Country/course direction → package recommendation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031992" y="141732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3432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0" name="Text 17"/>
          <p:cNvSpPr/>
          <p:nvPr/>
        </p:nvSpPr>
        <p:spPr>
          <a:xfrm>
            <a:off x="6123432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23432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Shortlist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23432" y="213055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fit-based options with budget &amp; intake plan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11480" y="306324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15468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31821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920" y="352044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Phase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02920" y="377647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SOP/LOR, submissions in portal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221736" y="306324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313176" y="315468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30" name="Text 27"/>
          <p:cNvSpPr/>
          <p:nvPr/>
        </p:nvSpPr>
        <p:spPr>
          <a:xfrm>
            <a:off x="3313176" y="31821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313176" y="352044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&amp; Decision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313176" y="377647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comparison matrix → informed acceptance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031992" y="306324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23432" y="315468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35" name="Text 32"/>
          <p:cNvSpPr/>
          <p:nvPr/>
        </p:nvSpPr>
        <p:spPr>
          <a:xfrm>
            <a:off x="6123432" y="31821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123432" y="352044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&amp; Departure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123432" y="377647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checklist, pre-departure briefing, alumni connect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Lead-to-Enrollment Pipeline &amp; SLAs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89888"/>
          <a:ext cx="8321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97280"/>
                <a:gridCol w="3017520"/>
                <a:gridCol w="1508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Criteria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Lead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/ Ops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Form, WhatsApp, referral, event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Response: 15 min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+ timeline + academics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business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Counseling Done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notes + next step logged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24 hours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 Sent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&amp; fee shared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48 hours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 (Paid)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+ payment received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onboarding same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Counselor + Ops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 paid / seat confirmed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logged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Service Packages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89888"/>
          <a:ext cx="83210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651760"/>
                <a:gridCol w="1325880"/>
                <a:gridCol w="1920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Role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Check (Free)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 assessment, country direction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qualification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 &amp; schedule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Mantra Pathfinder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 3–5 universities + budget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conversion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Co-counsel or refer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Mantra Application Pro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applications, SOP/LOR, documents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intake + follow-up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Mantra Visa &amp; Fly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filing + pre-departure support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Post-offer upsell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collection support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Mantra Premium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counselor, priority SLA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High-value students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referral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Framework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models &amp; governance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Principles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4046220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17320"/>
            <a:ext cx="4046220" cy="34747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386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" y="1874520"/>
            <a:ext cx="382676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fees: counseling, application &amp; visa (₹25K–₹1.5L+)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commissions on confirmed enrollments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referral fees: loans, test prep, accommodation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terms documented in Partnership MOU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86300" y="1417320"/>
            <a:ext cx="4046220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86300" y="1417320"/>
            <a:ext cx="4046220" cy="34747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4" name="Text 11"/>
          <p:cNvSpPr/>
          <p:nvPr/>
        </p:nvSpPr>
        <p:spPr>
          <a:xfrm>
            <a:off x="4777740" y="1463040"/>
            <a:ext cx="386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(Indicative)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96028" y="1874520"/>
            <a:ext cx="382676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Partner: 15–25% of service fee or commission share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Co-Delivery Partner: 30–50% of service fees by role split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Partner: retainer + performance bonus on enrollments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schedule customized per tier, volume &amp; territory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Compliance Charter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8321040" cy="34747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our primary product. One bad practice damages the entire network.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1856232"/>
            <a:ext cx="813816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guaranteed admission, visa, or scholarship promises under any circumstance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service scope per package — explicit inclusions and exclusions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document authenticity verified before any application submission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privacy: role-based access to student PII and financial documents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termination clause for repeated SLA breaches or ethical violations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Reporting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&amp; KPIs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Digital Platform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discovery, scholarships, profile check, counseling booking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260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603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4" name="Text 11"/>
          <p:cNvSpPr/>
          <p:nvPr/>
        </p:nvSpPr>
        <p:spPr>
          <a:xfrm>
            <a:off x="26174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174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documents, appointments, notifications &amp; tracking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405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058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8" name="Text 15"/>
          <p:cNvSpPr/>
          <p:nvPr/>
        </p:nvSpPr>
        <p:spPr>
          <a:xfrm>
            <a:off x="47320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 Portal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320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students, tasks, calendar, notes &amp; checklists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7551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5513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2" name="Text 19"/>
          <p:cNvSpPr/>
          <p:nvPr/>
        </p:nvSpPr>
        <p:spPr>
          <a:xfrm>
            <a:off x="68465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CRM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465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pipeline, partner tracking, enrollment metrics &amp; dashboards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We Track Together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89888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11480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Frequency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referred, cost per lead, source mix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counseling %, counseling → paid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days to shortlist, applications per student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fee revenue, commission forecast, ARPU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adherence %, student NPS, complaint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 received, enrollments confirmed, visa success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Partner Onboarding Roadmap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2700528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2130552"/>
            <a:ext cx="2517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signed → CRM setup → team training → SLA alignment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21736" y="1417320"/>
            <a:ext cx="2700528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3176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3313176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13176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13176" y="2130552"/>
            <a:ext cx="2517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counseling sessions → first paid conversions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031992" y="1417320"/>
            <a:ext cx="2700528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3432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0" name="Text 17"/>
          <p:cNvSpPr/>
          <p:nvPr/>
        </p:nvSpPr>
        <p:spPr>
          <a:xfrm>
            <a:off x="6123432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23432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Decision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23432" y="2130552"/>
            <a:ext cx="2517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review → referral codes live → long-term agreement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Review Cadence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8138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Weekly: Pipeline standup — hot leads, stuck deals, today's appointments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KPI review — conversions, SLA adherence, revenue &amp; quality metrics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Quarterly: Strategic review — territory expansion, commercial renegotiation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Annual: Network summit — best practices, university updates, joint planning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begin the partnership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Activation — 5 Steps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1576426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874520"/>
            <a:ext cx="1393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2130552"/>
            <a:ext cx="139354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 alignment on model, territory &amp; expectations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097634" y="1417320"/>
            <a:ext cx="1576426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89074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2189074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189074" y="1874520"/>
            <a:ext cx="1393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189074" y="2130552"/>
            <a:ext cx="139354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profiles, placement data &amp; references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783787" y="1417320"/>
            <a:ext cx="1576426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75227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0" name="Text 17"/>
          <p:cNvSpPr/>
          <p:nvPr/>
        </p:nvSpPr>
        <p:spPr>
          <a:xfrm>
            <a:off x="3875227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75227" y="1874520"/>
            <a:ext cx="1393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&amp; Commercials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875227" y="2130552"/>
            <a:ext cx="139354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agreement, revenue schedule &amp; SLAs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69941" y="1417320"/>
            <a:ext cx="1576426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61381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5" name="Text 22"/>
          <p:cNvSpPr/>
          <p:nvPr/>
        </p:nvSpPr>
        <p:spPr>
          <a:xfrm>
            <a:off x="5561381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61381" y="1874520"/>
            <a:ext cx="1393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Pilot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561381" y="2130552"/>
            <a:ext cx="139354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training, first leads &amp; targets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7156094" y="1417320"/>
            <a:ext cx="1576426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47534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30" name="Text 27"/>
          <p:cNvSpPr/>
          <p:nvPr/>
        </p:nvSpPr>
        <p:spPr>
          <a:xfrm>
            <a:off x="7247534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247534" y="1874520"/>
            <a:ext cx="1393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Agreement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47534" y="2130552"/>
            <a:ext cx="139354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 → long-term partnership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411480"/>
            <a:ext cx="2560320" cy="850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508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Together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11480" y="2057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Mantra Global Education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26060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 — Founder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support@mantraglobaleducation.com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www.mantraglobaleducation.com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USA · United Kingdom · Australia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42976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Journey. Our Guidance. Global Success.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Mantra Global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Mantra Global Education — Partnership Program</dc:title>
  <dc:subject>Partnership Program</dc:subject>
  <dc:creator>Mantra Global Education</dc:creator>
  <cp:lastModifiedBy>Mantra Global Education</cp:lastModifiedBy>
  <cp:revision>1</cp:revision>
  <dcterms:created xsi:type="dcterms:W3CDTF">2026-07-14T13:08:20Z</dcterms:created>
  <dcterms:modified xsi:type="dcterms:W3CDTF">2026-07-14T13:08:20Z</dcterms:modified>
</cp:coreProperties>
</file>