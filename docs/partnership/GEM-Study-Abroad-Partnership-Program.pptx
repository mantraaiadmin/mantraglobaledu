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89116"/>
          </a:solidFill>
          <a:ln/>
        </p:spPr>
      </p:sp>
      <p:pic>
        <p:nvPicPr>
          <p:cNvPr id="3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2377440" cy="7955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150876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Program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11480" y="21488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Collaboration for USA · UK · Australia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11480" y="2651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 Global. Achieve Future.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11480" y="32004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9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Founder: Vinodhini Y.</a:t>
            </a:r>
            <a:endParaRPr lang="en-US" sz="950" dirty="0"/>
          </a:p>
          <a:p>
            <a:pPr marL="342900" indent="-342900">
              <a:buSzPct val="100000"/>
              <a:buChar char="●"/>
            </a:pPr>
            <a:r>
              <a:rPr lang="en-US" sz="9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USA · United Kingdom · Australia</a:t>
            </a:r>
            <a:endParaRPr lang="en-US" sz="950" dirty="0"/>
          </a:p>
          <a:p>
            <a:pPr marL="342900" indent="-342900">
              <a:buSzPct val="100000"/>
              <a:buChar char="●"/>
            </a:pPr>
            <a:r>
              <a:rPr lang="en-US" sz="9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partnership discussions only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498080" y="42062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1691640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Study Abroad  |  Partnership Program 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11480" y="1453896"/>
            <a:ext cx="292608" cy="292608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1481328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77240" y="1417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Foundation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16733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Objective, 12-month goals &amp; success criteria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11480" y="2203704"/>
            <a:ext cx="292608" cy="292608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13" name="Text 10"/>
          <p:cNvSpPr/>
          <p:nvPr/>
        </p:nvSpPr>
        <p:spPr>
          <a:xfrm>
            <a:off x="411480" y="2231136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77240" y="21671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7724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credibility, market opportunity &amp; value proposition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11480" y="2953512"/>
            <a:ext cx="292608" cy="292608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17" name="Text 14"/>
          <p:cNvSpPr/>
          <p:nvPr/>
        </p:nvSpPr>
        <p:spPr>
          <a:xfrm>
            <a:off x="411480" y="2980944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77240" y="29169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Models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7240" y="31729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pathways &amp; ideal partner profile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11480" y="3703320"/>
            <a:ext cx="292608" cy="292608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21" name="Text 18"/>
          <p:cNvSpPr/>
          <p:nvPr/>
        </p:nvSpPr>
        <p:spPr>
          <a:xfrm>
            <a:off x="411480" y="3730752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77240" y="366674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&amp; Expectations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77240" y="392277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GEM delivers · What GEM expects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09160" y="1453896"/>
            <a:ext cx="292608" cy="292608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25" name="Text 22"/>
          <p:cNvSpPr/>
          <p:nvPr/>
        </p:nvSpPr>
        <p:spPr>
          <a:xfrm>
            <a:off x="4709160" y="1481328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074920" y="1417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Framework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074920" y="16733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journey, pipeline SLAs &amp; packages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709160" y="2203704"/>
            <a:ext cx="292608" cy="292608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29" name="Text 26"/>
          <p:cNvSpPr/>
          <p:nvPr/>
        </p:nvSpPr>
        <p:spPr>
          <a:xfrm>
            <a:off x="4709160" y="2231136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074920" y="21671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Framework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07492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models, compliance &amp; governance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709160" y="2953512"/>
            <a:ext cx="292608" cy="292608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33" name="Text 30"/>
          <p:cNvSpPr/>
          <p:nvPr/>
        </p:nvSpPr>
        <p:spPr>
          <a:xfrm>
            <a:off x="4709160" y="2980944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074920" y="29169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Reporting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074920" y="31729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Platform, KPIs &amp; 90-day onboarding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709160" y="3703320"/>
            <a:ext cx="292608" cy="292608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37" name="Text 34"/>
          <p:cNvSpPr/>
          <p:nvPr/>
        </p:nvSpPr>
        <p:spPr>
          <a:xfrm>
            <a:off x="4709160" y="3730752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74920" y="366674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074920" y="392277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partnership activation process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2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pic>
        <p:nvPicPr>
          <p:cNvPr id="3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82880"/>
            <a:ext cx="169164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10972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411480" y="21031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Foundation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11480" y="2743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Objective, goals &amp; success criteria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1691640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Objective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Study Abroad  |  Partnership Program 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11480" y="1353312"/>
            <a:ext cx="8321040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Text 6"/>
          <p:cNvSpPr/>
          <p:nvPr/>
        </p:nvSpPr>
        <p:spPr>
          <a:xfrm>
            <a:off x="521208" y="1389888"/>
            <a:ext cx="8101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trusted, scalable partner network that delivers premium study-abroad outcomes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11480" y="1965960"/>
            <a:ext cx="268224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" y="1965960"/>
            <a:ext cx="2682240" cy="54864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21031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02920" y="2423160"/>
            <a:ext cx="249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Quality Reach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02920" y="2788920"/>
            <a:ext cx="2499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ethical consultancies to serve more USA, UK &amp; Australia aspirants without compromising standards.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30880" y="1965960"/>
            <a:ext cx="268224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30880" y="1965960"/>
            <a:ext cx="2682240" cy="54864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7" name="Text 14"/>
          <p:cNvSpPr/>
          <p:nvPr/>
        </p:nvSpPr>
        <p:spPr>
          <a:xfrm>
            <a:off x="3322320" y="21031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3322320" y="2423160"/>
            <a:ext cx="249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the Journey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322320" y="2788920"/>
            <a:ext cx="2499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repeatable lead-to-enrollment framework with SLAs, documentation, and platform visibility.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050280" y="1965960"/>
            <a:ext cx="268224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50280" y="1965960"/>
            <a:ext cx="2682240" cy="54864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22" name="Text 19"/>
          <p:cNvSpPr/>
          <p:nvPr/>
        </p:nvSpPr>
        <p:spPr>
          <a:xfrm>
            <a:off x="6141720" y="21031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141720" y="2423160"/>
            <a:ext cx="249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Mutual Revenue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141720" y="2788920"/>
            <a:ext cx="2499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win-win commercial models where partners earn through ethical placements and structured delivery.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1691640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Partnership Goals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Study Abroad  |  Partnership Program 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11480" y="1417320"/>
            <a:ext cx="404622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52704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48640" y="2057400"/>
            <a:ext cx="37719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partner consultancies onboarded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86300" y="1417320"/>
            <a:ext cx="404622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23460" y="152704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4823460" y="2057400"/>
            <a:ext cx="37719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leads processed through GEM framework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11480" y="2834640"/>
            <a:ext cx="404622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29443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548640" y="3474720"/>
            <a:ext cx="37719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counseling engagements closed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686300" y="2834640"/>
            <a:ext cx="404622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23460" y="29443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80+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4823460" y="3474720"/>
            <a:ext cx="37719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enrollments (USA / UK / Australia)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11480" y="448056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adjusted per partner tier during onboarding. Reviewed quarterly.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1691640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Looks Like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Study Abroad  |  Partnership Program 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11480" y="1417320"/>
            <a:ext cx="8321040" cy="347472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45389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successful GEM partnership = trusted brand + disciplined operations + measurable enrollments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02920" y="1856232"/>
            <a:ext cx="8138160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receive transparent, milestone-based counseling with visible progress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earn predictable revenue through documented referral &amp; co-delivery models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maintains founder-led quality assurance and British Council–aligned standards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parties operate from a single pipeline view: lead → counseling → paid → enrolled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tolerance for false promises, document fraud, or undisclosed fees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2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pic>
        <p:nvPicPr>
          <p:cNvPr id="3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82880"/>
            <a:ext cx="169164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10972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411480" y="21031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11480" y="2743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Credibility, focus &amp; differentiation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2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Study Abroad  |  Partnership Program 2026</a:t>
            </a:r>
            <a:endParaRPr lang="en-US" sz="700" dirty="0"/>
          </a:p>
        </p:txBody>
      </p:sp>
      <p:pic>
        <p:nvPicPr>
          <p:cNvPr id="4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1691640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8686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at a Glance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11480" y="1417320"/>
            <a:ext cx="1977390" cy="1143000"/>
          </a:xfrm>
          <a:prstGeom prst="rect">
            <a:avLst/>
          </a:prstGeom>
          <a:solidFill>
            <a:srgbClr val="003D7A"/>
          </a:solidFill>
          <a:ln w="9525">
            <a:solidFill>
              <a:srgbClr val="C8911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508760"/>
            <a:ext cx="19773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700+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2057400"/>
            <a:ext cx="18859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Placed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526030" y="1417320"/>
            <a:ext cx="1977390" cy="1143000"/>
          </a:xfrm>
          <a:prstGeom prst="rect">
            <a:avLst/>
          </a:prstGeom>
          <a:solidFill>
            <a:srgbClr val="003D7A"/>
          </a:solidFill>
          <a:ln w="9525">
            <a:solidFill>
              <a:srgbClr val="C8911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26030" y="1508760"/>
            <a:ext cx="19773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2571750" y="2057400"/>
            <a:ext cx="18859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Experience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640580" y="1417320"/>
            <a:ext cx="1977390" cy="1143000"/>
          </a:xfrm>
          <a:prstGeom prst="rect">
            <a:avLst/>
          </a:prstGeom>
          <a:solidFill>
            <a:srgbClr val="003D7A"/>
          </a:solidFill>
          <a:ln w="9525">
            <a:solidFill>
              <a:srgbClr val="C8911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40580" y="1508760"/>
            <a:ext cx="19773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686300" y="2057400"/>
            <a:ext cx="18859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Countries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755130" y="1417320"/>
            <a:ext cx="1977390" cy="1143000"/>
          </a:xfrm>
          <a:prstGeom prst="rect">
            <a:avLst/>
          </a:prstGeom>
          <a:solidFill>
            <a:srgbClr val="003D7A"/>
          </a:solidFill>
          <a:ln w="9525">
            <a:solidFill>
              <a:srgbClr val="C8911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55130" y="1508760"/>
            <a:ext cx="19773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17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800850" y="2057400"/>
            <a:ext cx="18859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Pan-India Rank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02920" y="2834640"/>
            <a:ext cx="8138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050" dirty="0">
                <a:solidFill>
                  <a:srgbClr val="D1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boutique advisory — USA, United Kingdom, Australia</a:t>
            </a:r>
            <a:endParaRPr lang="en-US" sz="1050" dirty="0"/>
          </a:p>
          <a:p>
            <a:pPr marL="342900" indent="-342900">
              <a:buSzPct val="100000"/>
              <a:buChar char="●"/>
            </a:pPr>
            <a:r>
              <a:rPr lang="en-US" sz="1050" dirty="0">
                <a:solidFill>
                  <a:srgbClr val="D1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 | British Council Certified | Former IDP Counselor</a:t>
            </a:r>
            <a:endParaRPr lang="en-US" sz="1050" dirty="0"/>
          </a:p>
          <a:p>
            <a:pPr marL="342900" indent="-342900">
              <a:buSzPct val="100000"/>
              <a:buChar char="●"/>
            </a:pPr>
            <a:r>
              <a:rPr lang="en-US" sz="1050" dirty="0">
                <a:solidFill>
                  <a:srgbClr val="D1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digital platform: discovery, counseling, student &amp; counselor portals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1691640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Credibility — Vinodhini Y.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Study Abroad  |  Partnership Program 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11480" y="1417320"/>
            <a:ext cx="197739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1480" y="1417320"/>
            <a:ext cx="197739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581912"/>
            <a:ext cx="179451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Years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1920240"/>
            <a:ext cx="179451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education counseling across admissions, visas &amp; university pathways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26030" y="1417320"/>
            <a:ext cx="197739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26030" y="1417320"/>
            <a:ext cx="1977390" cy="64008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4" name="Text 11"/>
          <p:cNvSpPr/>
          <p:nvPr/>
        </p:nvSpPr>
        <p:spPr>
          <a:xfrm>
            <a:off x="2617470" y="1581912"/>
            <a:ext cx="179451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Ex-IDP Counselor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617470" y="1920240"/>
            <a:ext cx="179451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700+ students placed with proven global placement expertise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640580" y="1417320"/>
            <a:ext cx="197739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40580" y="1417320"/>
            <a:ext cx="197739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18" name="Text 15"/>
          <p:cNvSpPr/>
          <p:nvPr/>
        </p:nvSpPr>
        <p:spPr>
          <a:xfrm>
            <a:off x="4732020" y="1581912"/>
            <a:ext cx="179451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17 India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732020" y="1920240"/>
            <a:ext cx="179451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Recognised among India's leading study-abroad advisors nationally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755130" y="1417320"/>
            <a:ext cx="197739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55130" y="1417320"/>
            <a:ext cx="1977390" cy="64008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22" name="Text 19"/>
          <p:cNvSpPr/>
          <p:nvPr/>
        </p:nvSpPr>
        <p:spPr>
          <a:xfrm>
            <a:off x="6846570" y="1581912"/>
            <a:ext cx="179451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Council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846570" y="1920240"/>
            <a:ext cx="179451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counselor — credentials trusted by universities &amp; families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1691640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Study Abroad  |  Partnership Program 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11480" y="1417320"/>
            <a:ext cx="4046220" cy="32004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1480" y="1417320"/>
            <a:ext cx="4046220" cy="347472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38633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Demand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21208" y="1874520"/>
            <a:ext cx="3826764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USA, UK &amp; Australia remain top destinations for Indian students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demand certified counselors + digital journey tracking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6–18 month intake cycles require disciplined pipeline management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evaluate ROI, visa reality &amp; career outcomes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686300" y="1417320"/>
            <a:ext cx="4046220" cy="32004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86300" y="1417320"/>
            <a:ext cx="4046220" cy="347472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14" name="Text 11"/>
          <p:cNvSpPr/>
          <p:nvPr/>
        </p:nvSpPr>
        <p:spPr>
          <a:xfrm>
            <a:off x="4777740" y="1463040"/>
            <a:ext cx="38633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Gap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796028" y="1874520"/>
            <a:ext cx="3826764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consultancies have reach but lack scalable process &amp; tech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SLAs erode trust and reduce conversion rates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CRM = leads lost after initial contact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need brand credibility to compete with aggregators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1691640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Partner with GEM?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Study Abroad  |  Partnership Program 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11480" y="1417320"/>
            <a:ext cx="197739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1480" y="1417320"/>
            <a:ext cx="1977390" cy="64008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581912"/>
            <a:ext cx="179451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Trust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1920240"/>
            <a:ext cx="179451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credibility, certifications &amp; ethical positioning families respect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26030" y="1417320"/>
            <a:ext cx="197739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26030" y="1417320"/>
            <a:ext cx="197739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14" name="Text 11"/>
          <p:cNvSpPr/>
          <p:nvPr/>
        </p:nvSpPr>
        <p:spPr>
          <a:xfrm>
            <a:off x="2617470" y="1581912"/>
            <a:ext cx="179451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Process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617470" y="1920240"/>
            <a:ext cx="179451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lead-to-enrollment workflow with SLAs at every stage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640580" y="1417320"/>
            <a:ext cx="197739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40580" y="1417320"/>
            <a:ext cx="1977390" cy="64008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8" name="Text 15"/>
          <p:cNvSpPr/>
          <p:nvPr/>
        </p:nvSpPr>
        <p:spPr>
          <a:xfrm>
            <a:off x="4732020" y="1581912"/>
            <a:ext cx="179451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732020" y="1920240"/>
            <a:ext cx="179451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portal, counselor tools &amp; CRM roadmap — not a static website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755130" y="1417320"/>
            <a:ext cx="197739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55130" y="1417320"/>
            <a:ext cx="197739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22" name="Text 19"/>
          <p:cNvSpPr/>
          <p:nvPr/>
        </p:nvSpPr>
        <p:spPr>
          <a:xfrm>
            <a:off x="6846570" y="1581912"/>
            <a:ext cx="179451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Clarity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846570" y="1920240"/>
            <a:ext cx="179451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packages, revenue-share models &amp; transparent MOU terms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2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pic>
        <p:nvPicPr>
          <p:cNvPr id="3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82880"/>
            <a:ext cx="169164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10972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411480" y="21031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Models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11480" y="2743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structure that fits your business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1691640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Partnership Pathways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Study Abroad  |  Partnership Program 2026</a:t>
            </a:r>
            <a:endParaRPr lang="en-US" sz="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89888"/>
          <a:ext cx="83210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508760"/>
                <a:gridCol w="2926080"/>
                <a:gridCol w="25603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 Partner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Basis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Referral Partner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with lead flow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 qualified leads → GEM counsels &amp; delivers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 on enrollment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Co-Delivery Partner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Counseling firms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 counseling; GEM handles apps &amp; platform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fee revenue share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 Partner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/ state leaders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Semi-exclusive territory + co-branding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Retainer + performance bonus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Institutional Partner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Schools &amp; colleges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Workshops, career talks, pipeline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Per-enrollment + annual fee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1691640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Partner Profile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Study Abroad  |  Partnership Program 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11480" y="1417320"/>
            <a:ext cx="8321040" cy="347472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45389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partner with quality-first consultancies — not volume-at-any-cost operators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02920" y="1856232"/>
            <a:ext cx="8138160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study-abroad practice with verifiable placement history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Counselors familiar with USA / UK / Australia admission pathways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to respond to leads within 15 minutes during business hours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Willingness to adopt GEM stage definitions, SLAs &amp; documentation standards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to transparent fees — no hidden charges to students or families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2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pic>
        <p:nvPicPr>
          <p:cNvPr id="3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82880"/>
            <a:ext cx="169164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10972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411480" y="21031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&amp; Expectations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11480" y="2743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party commits to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1691640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GEM Delivers to Partners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Study Abroad  |  Partnership Program 2026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11480" y="141732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Credibility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1636776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GEM brand association &amp; founder-backed QA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57200" y="1837944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Co-branded marketing assets &amp; webinars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57200" y="2039112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British Council–aligned counseling methodology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11480" y="233172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Management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2551176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Central CRM pipeline with stage tracking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57200" y="2752344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Lead assignment, SLA monitoring &amp; escalation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57200" y="2953512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WhatsApp / email nurture templates &amp; scripts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11480" y="324612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Counseling Operations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57200" y="3465576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Packages: Profile Check → Pathfinder → Application Pro → Visa &amp; Fly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457200" y="3666744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University shortlisting for USA, UK, Australia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57200" y="3867912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SOP/LOR guidance, checklists &amp; deadline tracking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663440" y="141732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Platform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709160" y="1636776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 portal: apps, documents, appointments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4709160" y="1837944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Counselor portal: tasks, notes, calendar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4709160" y="2039112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dashboard: metrics &amp; partner reporting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4663440" y="233172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Support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709160" y="2551176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Documented MOU with revenue-share schedule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4709160" y="2752344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Commission tracking per enrollment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4709160" y="2953512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Quarterly business review with KPI dashboard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1691640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GEM Expects from Partners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Study Abroad  |  Partnership Program 2026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11480" y="141732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Practice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1636776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guaranteed admission or visa promises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57200" y="1837944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tolerance for fraudulent documents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57200" y="2039112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Transparent fee disclosure before payment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11480" y="233172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Discipline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2551176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15-minute first response SLA on leads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57200" y="2752344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CRM stage updates within 24 hours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57200" y="2953512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 student profile before applications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11480" y="324612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Counseling Standards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57200" y="3465576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Sessions follow GEM methodology &amp; notes format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457200" y="3666744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Weekly student updates during application phase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57200" y="3867912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Escalation of complex cases to senior counselor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663440" y="141732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Compliance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709160" y="1636776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Approved GEM branding in all marketing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4709160" y="1837944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claims contradicting GEM policies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4709160" y="2039112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Onboarding training &amp; monthly pipeline reviews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4663440" y="233172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Transparency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709160" y="2551176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Monthly lead, conversion &amp; enrollment reports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4709160" y="2752344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Honest loss-reason coding for non-converts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4709160" y="2953512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 data sharing for joint KPI review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1691640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by Partnership Phase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Study Abroad  |  Partnership Program 2026</a:t>
            </a:r>
            <a:endParaRPr lang="en-US" sz="7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89888"/>
          <a:ext cx="83210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05840"/>
                <a:gridCol w="3108960"/>
                <a:gridCol w="31089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 Provides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Provides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1–2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deck, MOU draft, commercial schedule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profile, team CVs, placement data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3–4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 access, training, scripts, brand kit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attendance, SLA sign-off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2–3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routing, counseling support, platform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10–20 sessions, pipeline updates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4–12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Co-marketing, KPI reviews, expansion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reports, quality adherence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2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pic>
        <p:nvPicPr>
          <p:cNvPr id="3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82880"/>
            <a:ext cx="169164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10972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411480" y="21031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Framework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11480" y="2743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journey, pipeline &amp; packages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1691640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Student Journey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Study Abroad  |  Partnership Program 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11480" y="1417320"/>
            <a:ext cx="2700528" cy="1508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1508760"/>
            <a:ext cx="320040" cy="320040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53619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2920" y="1874520"/>
            <a:ext cx="2517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Assessment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02920" y="2130552"/>
            <a:ext cx="25176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Profile Check → qualify budget, academics, timeline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221736" y="1417320"/>
            <a:ext cx="2700528" cy="1508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13176" y="1508760"/>
            <a:ext cx="320040" cy="320040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15" name="Text 12"/>
          <p:cNvSpPr/>
          <p:nvPr/>
        </p:nvSpPr>
        <p:spPr>
          <a:xfrm>
            <a:off x="3313176" y="153619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313176" y="1874520"/>
            <a:ext cx="2517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Counseling Session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313176" y="2130552"/>
            <a:ext cx="25176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Country/course direction → package recommendation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6031992" y="1417320"/>
            <a:ext cx="2700528" cy="1508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23432" y="1508760"/>
            <a:ext cx="320040" cy="320040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20" name="Text 17"/>
          <p:cNvSpPr/>
          <p:nvPr/>
        </p:nvSpPr>
        <p:spPr>
          <a:xfrm>
            <a:off x="6123432" y="153619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123432" y="1874520"/>
            <a:ext cx="2517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Shortlist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123432" y="2130552"/>
            <a:ext cx="25176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fit-based options with budget &amp; intake plan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411480" y="3063240"/>
            <a:ext cx="2700528" cy="1508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2920" y="3154680"/>
            <a:ext cx="320040" cy="320040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25" name="Text 22"/>
          <p:cNvSpPr/>
          <p:nvPr/>
        </p:nvSpPr>
        <p:spPr>
          <a:xfrm>
            <a:off x="502920" y="31821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02920" y="3520440"/>
            <a:ext cx="2517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Phase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02920" y="3776472"/>
            <a:ext cx="25176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SOP/LOR, submissions in portal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3221736" y="3063240"/>
            <a:ext cx="2700528" cy="1508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313176" y="3154680"/>
            <a:ext cx="320040" cy="320040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30" name="Text 27"/>
          <p:cNvSpPr/>
          <p:nvPr/>
        </p:nvSpPr>
        <p:spPr>
          <a:xfrm>
            <a:off x="3313176" y="31821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3313176" y="3520440"/>
            <a:ext cx="2517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&amp; Decision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3313176" y="3776472"/>
            <a:ext cx="25176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comparison matrix → informed acceptance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6031992" y="3063240"/>
            <a:ext cx="2700528" cy="1508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123432" y="3154680"/>
            <a:ext cx="320040" cy="320040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35" name="Text 32"/>
          <p:cNvSpPr/>
          <p:nvPr/>
        </p:nvSpPr>
        <p:spPr>
          <a:xfrm>
            <a:off x="6123432" y="31821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123432" y="3520440"/>
            <a:ext cx="2517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&amp; Departure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6123432" y="3776472"/>
            <a:ext cx="25176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checklist, pre-departure briefing, alumni connect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1691640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Lead-to-Enrollment Pipeline &amp; SLAs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Study Abroad  |  Partnership Program 2026</a:t>
            </a:r>
            <a:endParaRPr lang="en-US" sz="7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89888"/>
          <a:ext cx="832104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097280"/>
                <a:gridCol w="3017520"/>
                <a:gridCol w="15087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Criteria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Lead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/ Ops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Form, WhatsApp, referral, event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Response: 15 min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Counselor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+ timeline + academics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business day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Counseling Done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Counselor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notes + next step logged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24 hours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Proposal Sent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Counselor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 &amp; fee shared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48 hours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Won (Paid)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Agreement + payment received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 onboarding same day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Counselor + Ops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 paid / seat confirmed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 logged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1691640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Service Packages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Study Abroad  |  Partnership Program 2026</a:t>
            </a:r>
            <a:endParaRPr lang="en-US" sz="7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89888"/>
          <a:ext cx="832104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2651760"/>
                <a:gridCol w="1325880"/>
                <a:gridCol w="19202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Stage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Role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 Check (Free)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Readiness assessment, country direction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qualification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 &amp; schedule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 Pathfinder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Shortlist 3–5 universities + budget plan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conversion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Co-counsel or refer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 Application Pro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applications, SOP/LOR, documents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revenue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 intake + follow-up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 Visa &amp; Fly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Visa filing + pre-departure support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Post-offer upsell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 collection support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 Premium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counselor, priority SLA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High-value students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referral partner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2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pic>
        <p:nvPicPr>
          <p:cNvPr id="3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82880"/>
            <a:ext cx="169164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10972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411480" y="21031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Framework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11480" y="2743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models &amp; governance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1691640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Principles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Study Abroad  |  Partnership Program 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11480" y="1417320"/>
            <a:ext cx="4046220" cy="32004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1480" y="1417320"/>
            <a:ext cx="4046220" cy="347472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38633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21208" y="1874520"/>
            <a:ext cx="3826764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fees: counseling, application &amp; visa (₹25K–₹1.5L+)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commissions on confirmed enrollments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referral fees: loans, test prep, accommodation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terms documented in Partnership MOU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686300" y="1417320"/>
            <a:ext cx="4046220" cy="32004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86300" y="1417320"/>
            <a:ext cx="4046220" cy="347472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14" name="Text 11"/>
          <p:cNvSpPr/>
          <p:nvPr/>
        </p:nvSpPr>
        <p:spPr>
          <a:xfrm>
            <a:off x="4777740" y="1463040"/>
            <a:ext cx="38633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(Indicative)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796028" y="1874520"/>
            <a:ext cx="3826764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Partner: 15–25% of service fee or commission share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Co-Delivery Partner: 30–50% of service fees by role split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Partner: retainer + performance bonus on enrollments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schedule customized per tier, volume &amp; territory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1691640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Compliance Charter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Study Abroad  |  Partnership Program 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11480" y="1417320"/>
            <a:ext cx="8321040" cy="347472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45389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our primary product. One bad practice damages the entire network.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02920" y="1856232"/>
            <a:ext cx="8138160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guaranteed admission, visa, or scholarship promises under any circumstance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service scope per package — explicit inclusions and exclusions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document authenticity verified before any application submission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privacy: role-based access to student PII and financial documents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termination clause for repeated SLA breaches or ethical violations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2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pic>
        <p:nvPicPr>
          <p:cNvPr id="3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82880"/>
            <a:ext cx="169164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10972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411480" y="21031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Reporting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11480" y="2743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capabilities &amp; KPIs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1691640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Digital Platform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Study Abroad  |  Partnership Program 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11480" y="1417320"/>
            <a:ext cx="197739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1480" y="1417320"/>
            <a:ext cx="1977390" cy="64008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581912"/>
            <a:ext cx="179451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Website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1920240"/>
            <a:ext cx="179451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discovery, scholarships, profile check, counseling booking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26030" y="1417320"/>
            <a:ext cx="197739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26030" y="1417320"/>
            <a:ext cx="197739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14" name="Text 11"/>
          <p:cNvSpPr/>
          <p:nvPr/>
        </p:nvSpPr>
        <p:spPr>
          <a:xfrm>
            <a:off x="2617470" y="1581912"/>
            <a:ext cx="179451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Portal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617470" y="1920240"/>
            <a:ext cx="179451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Applications, documents, appointments, notifications &amp; tracking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640580" y="1417320"/>
            <a:ext cx="197739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40580" y="1417320"/>
            <a:ext cx="1977390" cy="64008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8" name="Text 15"/>
          <p:cNvSpPr/>
          <p:nvPr/>
        </p:nvSpPr>
        <p:spPr>
          <a:xfrm>
            <a:off x="4732020" y="1581912"/>
            <a:ext cx="179451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Counselor Portal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732020" y="1920240"/>
            <a:ext cx="179451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students, tasks, calendar, notes &amp; checklists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755130" y="1417320"/>
            <a:ext cx="197739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55130" y="1417320"/>
            <a:ext cx="197739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22" name="Text 19"/>
          <p:cNvSpPr/>
          <p:nvPr/>
        </p:nvSpPr>
        <p:spPr>
          <a:xfrm>
            <a:off x="6846570" y="1581912"/>
            <a:ext cx="179451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CRM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846570" y="1920240"/>
            <a:ext cx="179451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pipeline, partner tracking, enrollment metrics &amp; dashboards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1691640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We Track Together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Study Abroad  |  Partnership Program 2026</a:t>
            </a:r>
            <a:endParaRPr lang="en-US" sz="7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89888"/>
          <a:ext cx="83210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114800"/>
                <a:gridCol w="13716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Frequency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Acquisition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referred, cost per lead, source mix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→ counseling %, counseling → paid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days to shortlist, applications per student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fee revenue, commission forecast, ARPU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adherence %, student NPS, complaint rate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Offers received, enrollments confirmed, visa success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1691640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Partner Onboarding Roadmap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Study Abroad  |  Partnership Program 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11480" y="1417320"/>
            <a:ext cx="2700528" cy="3154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1508760"/>
            <a:ext cx="320040" cy="320040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53619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2920" y="1874520"/>
            <a:ext cx="2517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02920" y="2130552"/>
            <a:ext cx="25176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 signed → CRM setup → team training → SLA alignment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221736" y="1417320"/>
            <a:ext cx="2700528" cy="3154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13176" y="1508760"/>
            <a:ext cx="320040" cy="320040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15" name="Text 12"/>
          <p:cNvSpPr/>
          <p:nvPr/>
        </p:nvSpPr>
        <p:spPr>
          <a:xfrm>
            <a:off x="3313176" y="153619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313176" y="1874520"/>
            <a:ext cx="2517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313176" y="2130552"/>
            <a:ext cx="25176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 counseling sessions → first paid conversions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6031992" y="1417320"/>
            <a:ext cx="2700528" cy="3154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23432" y="1508760"/>
            <a:ext cx="320040" cy="320040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20" name="Text 17"/>
          <p:cNvSpPr/>
          <p:nvPr/>
        </p:nvSpPr>
        <p:spPr>
          <a:xfrm>
            <a:off x="6123432" y="153619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123432" y="1874520"/>
            <a:ext cx="2517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Decision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123432" y="2130552"/>
            <a:ext cx="25176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review → referral codes live → long-term agreement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1691640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Review Cadence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Study Abroad  |  Partnership Program 2026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502920" y="1417320"/>
            <a:ext cx="8138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Weekly: Pipeline standup — hot leads, stuck deals, today's appointments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Monthly: KPI review — conversions, SLA adherence, revenue &amp; quality metrics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Quarterly: Strategic review — territory expansion, commercial renegotiation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Annual: Network summit — best practices, university updates, joint planning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2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pic>
        <p:nvPicPr>
          <p:cNvPr id="3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82880"/>
            <a:ext cx="169164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10972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411480" y="21031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11480" y="2743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begin the partnership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1691640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795528"/>
            <a:ext cx="914400" cy="457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Activation — 5 Steps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366760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6400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Study Abroad  |  Partnership Program 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11480" y="1417320"/>
            <a:ext cx="1576426" cy="3154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1508760"/>
            <a:ext cx="320040" cy="320040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53619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2920" y="1874520"/>
            <a:ext cx="13935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Call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02920" y="2130552"/>
            <a:ext cx="139354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 alignment on model, territory &amp; expectations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2097634" y="1417320"/>
            <a:ext cx="1576426" cy="3154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189074" y="1508760"/>
            <a:ext cx="320040" cy="320040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15" name="Text 12"/>
          <p:cNvSpPr/>
          <p:nvPr/>
        </p:nvSpPr>
        <p:spPr>
          <a:xfrm>
            <a:off x="2189074" y="153619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189074" y="1874520"/>
            <a:ext cx="13935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Diligence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2189074" y="2130552"/>
            <a:ext cx="139354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profiles, placement data &amp; references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3783787" y="1417320"/>
            <a:ext cx="1576426" cy="3154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75227" y="1508760"/>
            <a:ext cx="320040" cy="320040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20" name="Text 17"/>
          <p:cNvSpPr/>
          <p:nvPr/>
        </p:nvSpPr>
        <p:spPr>
          <a:xfrm>
            <a:off x="3875227" y="153619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875227" y="1874520"/>
            <a:ext cx="13935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 &amp; Commercials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875227" y="2130552"/>
            <a:ext cx="139354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agreement, revenue schedule &amp; SLAs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5469941" y="1417320"/>
            <a:ext cx="1576426" cy="3154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561381" y="1508760"/>
            <a:ext cx="320040" cy="320040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25" name="Text 22"/>
          <p:cNvSpPr/>
          <p:nvPr/>
        </p:nvSpPr>
        <p:spPr>
          <a:xfrm>
            <a:off x="5561381" y="153619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561381" y="1874520"/>
            <a:ext cx="13935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Pilot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561381" y="2130552"/>
            <a:ext cx="139354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training, first leads &amp; targets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7156094" y="1417320"/>
            <a:ext cx="1576426" cy="3154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247534" y="1508760"/>
            <a:ext cx="320040" cy="320040"/>
          </a:xfrm>
          <a:prstGeom prst="ellipse">
            <a:avLst/>
          </a:prstGeom>
          <a:solidFill>
            <a:srgbClr val="00234E"/>
          </a:solidFill>
          <a:ln/>
        </p:spPr>
      </p:sp>
      <p:sp>
        <p:nvSpPr>
          <p:cNvPr id="30" name="Text 27"/>
          <p:cNvSpPr/>
          <p:nvPr/>
        </p:nvSpPr>
        <p:spPr>
          <a:xfrm>
            <a:off x="7247534" y="153619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247534" y="1874520"/>
            <a:ext cx="13935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Agreement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247534" y="2130552"/>
            <a:ext cx="139354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review → long-term partnership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02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pic>
        <p:nvPicPr>
          <p:cNvPr id="3" name="Image 0" descr="/Users/praveen/Documents/Vinodhini/docs/partnership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411480"/>
            <a:ext cx="2560320" cy="8503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15087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Future Together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11480" y="20574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GEM Study Abroad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371600" y="260604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Vinodhini Y. — Founder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1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support@gemstudyabroad.com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1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+91 98765 43210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1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www.gemstudyabroad.com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1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USA · United Kingdom · Australia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11480" y="42976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 Global. Achieve Future.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GEM Study Abroad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 Study Abroad — Partnership Program</dc:title>
  <dc:subject>Partnership Program</dc:subject>
  <dc:creator>GEM Study Abroad</dc:creator>
  <cp:lastModifiedBy>GEM Study Abroad</cp:lastModifiedBy>
  <cp:revision>1</cp:revision>
  <dcterms:created xsi:type="dcterms:W3CDTF">2026-07-13T13:11:32Z</dcterms:created>
  <dcterms:modified xsi:type="dcterms:W3CDTF">2026-07-13T13:11:32Z</dcterms:modified>
</cp:coreProperties>
</file>